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LIVE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8FAFC"/>
                </a:solidFill>
                <a:latin typeface="Calibri"/>
              </a:rPr>
              <a:t>YojanaConnect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2DD4BF"/>
                </a:solidFill>
                <a:latin typeface="Calibri"/>
              </a:rPr>
              <a:t>Enterprise-grade Welfare Scheme Discovery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Age-aware  ·  Bilingual EN/HI  ·  React + Express + MySQL  ·  Production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https://yojnaconnect.prakharkr.online/schemes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Technical Pitch for Tamil Nadu / Enterprise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Technical walkthrough for first-impact pitching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C4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Problem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37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Why scheme discovery fails and how we fix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C42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30428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Live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159 schemes, bilingual UX, real production URL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461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C42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729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474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React SPA, Express REST API, MySQL knowledge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19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1479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C42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041647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Engineering 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343399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Filters, APIs, schema, Node/Express request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834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8C42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103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Trust and Pilot 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212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Security, scale path, Tamil Nadu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Calibri"/>
              </a:rPr>
              <a:t>The Problem: Discovery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India runs 400+ welfare schemes, but eligible citizens still miss benefits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Fragmented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Ministry sites, PDFs, and state portals with no single citizen entry 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37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Complex Eligibility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Hard bureaucratic language blocks first-time and rural digital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661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86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Language Barrier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805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English-first experiences exclude large Hindi and regional audiences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5661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886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No Personalization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4805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  <a:latin typeface="Calibri"/>
              </a:rPr>
              <a:t>Users browse catalogs instead of starting from life stage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Solution: Life-Stage First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From “Which yojana am I eligible for?” to a shortlist and official apply path in under 60 seconds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5448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8C4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D4BF"/>
                </a:solidFill>
                <a:latin typeface="Calibri"/>
              </a:rPr>
              <a:t>AGE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Citizen sets age. Mapped to Teen, Young Adult, Middle Age, or Senior.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8C4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D4BF"/>
                </a:solidFill>
                <a:latin typeface="Calibri"/>
              </a:rPr>
              <a:t>FILTER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Sector, income, keyword, and central/state filters refine results.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8C4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D4BF"/>
                </a:solidFill>
                <a:latin typeface="Calibri"/>
              </a:rPr>
              <a:t>SCHEME INTEL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Eligibility, documents, steps, and terms shown on one page.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8C4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DD4BF"/>
                </a:solidFill>
                <a:latin typeface="Calibri"/>
              </a:rPr>
              <a:t>OFFICIAL 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Apply Now opens the government portal. No Aadhaar stored by 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Live Product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8C42"/>
                </a:solidFill>
                <a:latin typeface="Calibri"/>
              </a:rPr>
              <a:t>Production: yojnaconnect.prakharkr.online/schemes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C42"/>
                </a:solidFill>
                <a:latin typeface="Calibri"/>
              </a:rPr>
              <a:t>159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Total Schemes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19" y="114300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59" y="12801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8BDF8"/>
                </a:solidFill>
                <a:latin typeface="Calibri"/>
              </a:rPr>
              <a:t>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87451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Central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39" y="114300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2801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Calibri"/>
              </a:rP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87451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59" y="114300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199" y="128016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DD4B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187451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Languages</a:t>
            </a:r>
          </a:p>
        </p:txBody>
      </p:sp>
      <p:pic>
        <p:nvPicPr>
          <p:cNvPr id="18" name="Picture 17" descr="yojna-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097280"/>
            <a:ext cx="3840480" cy="2400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69748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Age-personalized scheme grid with popularity ranking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Sector, income, and keyword filters with live counts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Detail pages: eligibility, documents, how-to-apply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WhatsApp share and official Apply Now handoff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YojanaBot guided assistant and English / Hindi UI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Responsive SPA built for mobile-first civic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Product Surfaces</a:t>
            </a:r>
          </a:p>
        </p:txBody>
      </p:sp>
      <p:pic>
        <p:nvPicPr>
          <p:cNvPr id="5" name="Picture 4" descr="yojn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2788920" cy="17430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59893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D4BF"/>
                </a:solidFill>
                <a:latin typeface="Calibri"/>
              </a:rPr>
              <a:t>Age Entry</a:t>
            </a:r>
          </a:p>
        </p:txBody>
      </p:sp>
      <p:pic>
        <p:nvPicPr>
          <p:cNvPr id="7" name="Picture 6" descr="yojna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914400"/>
            <a:ext cx="2788920" cy="1743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91840" y="59893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D4BF"/>
                </a:solidFill>
                <a:latin typeface="Calibri"/>
              </a:rPr>
              <a:t>Scheme Detail</a:t>
            </a:r>
          </a:p>
        </p:txBody>
      </p:sp>
      <p:pic>
        <p:nvPicPr>
          <p:cNvPr id="9" name="Picture 8" descr="yojna-ex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914400"/>
            <a:ext cx="2788920" cy="17430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59893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D4BF"/>
                </a:solidFill>
                <a:latin typeface="Calibri"/>
              </a:rPr>
              <a:t>YojanaBot</a:t>
            </a:r>
          </a:p>
        </p:txBody>
      </p:sp>
      <p:pic>
        <p:nvPicPr>
          <p:cNvPr id="11" name="Picture 10" descr="yojna-language-hind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914400"/>
            <a:ext cx="2788920" cy="1743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35440" y="598932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DD4BF"/>
                </a:solidFill>
                <a:latin typeface="Calibri"/>
              </a:rPr>
              <a:t>Hindi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Classic 3-tier design: clear, maintainable, familiar to government IT teams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280160"/>
            <a:ext cx="9601200" cy="1371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508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508760"/>
            <a:ext cx="5852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React 19, TypeScript, Vite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TanStack Query, Wouter, i18next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Tailwind CSS v4, Radix / shadcn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834640"/>
            <a:ext cx="9601200" cy="1371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063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63240"/>
            <a:ext cx="5852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Node.js and Express 5 REST API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Controllers with parameterized SQL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JSON field parsers and CORS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4389120"/>
            <a:ext cx="9601200" cy="1371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46177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617720"/>
            <a:ext cx="58521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MySQL 8+ scheme knowledge base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JSON columns for age groups and sectors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Popularity score ranking and pooling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How Node.js and Express Work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Express is the bridge between the citizen UI and the scheme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23444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3807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38074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Citizen selects age in React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96596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11226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1226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Frontend calls GET /api/schemes?ageGroup=youngAdult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69748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84378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84378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Express route sends request to schemes controller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42900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35753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57530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Controller builds safe SQL filters and queries MySQL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16052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30682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30682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API returns JSON scheme list to the browser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892040"/>
            <a:ext cx="9966960" cy="621792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50383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038344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React renders cards; Apply Now opens official portal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Request Path and Filtering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109728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2618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26187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Browser stores ageGroup in localStorage after age selection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87452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3911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03911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GET /api/schemes with ageGroup, sector, incomeLimit, 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65176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1635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Express builds parameterized WHERE clause (no string-concat SQL)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342900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593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59359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MySQL uses JSON_CONTAINS, income brackets, and LIKE search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20624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3708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3708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Results sorted by popularity_score, then JSON fields are parsed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983480"/>
            <a:ext cx="10149840" cy="658368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1480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14807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Detail page uses GET /api/schemes/:id; Apply uses official_link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09/16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42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React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TanStack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Wouter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i18next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Framer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Tailwind CSS v4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05156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42"/>
                </a:solidFill>
                <a:latin typeface="Calibri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Node.js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Express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mysql2 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154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dotenv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11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CORS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069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REST JSON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526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pnpm monorepo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Typed API client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051560"/>
            <a:ext cx="3703320" cy="48920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234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42"/>
                </a:solidFill>
                <a:latin typeface="Calibri"/>
              </a:rPr>
              <a:t>Data and 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MySQL 8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Seed SQL catalog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Nginx reverse proxy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154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Static SPA 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611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Healthz endpoint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069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Env-based config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526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HTTPS live deploy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&gt;  Mobile-first UX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API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Read-optimized REST endpoints ready for web, CSC apps, or future WhatsApp bots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6187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/api/healthz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Health / liveness probe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0195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/api/schemes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Filtered list by age, sector, income, search,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03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/api/schemes/:id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Full scheme document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82111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003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/api/schemes/:id/related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2003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Related scheme suggestions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2219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/api/schemes/popular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Top schemes by popularity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62272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/api/schemes/stats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480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Total, central, and state counts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02351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206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DD4BF"/>
                </a:solidFill>
                <a:latin typeface="Calibri"/>
              </a:rPr>
              <a:t>/api/sectors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1206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Sector taxonomy with optional age 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Data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5577840" cy="484632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42"/>
                </a:solidFill>
                <a:latin typeface="Calibri"/>
              </a:rPr>
              <a:t>schemes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id, name, name_hindi, ministry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age_groups (JSON), sectors (JSON)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income_limit, categories, benefit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eligibility and documents (JSON)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how_to_apply, official_link, deadline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terms_and_conditions, tags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is_state, state, popularity_score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0584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Calibri"/>
              </a:rPr>
              <a:t>sectors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sector_id, name, name_hindi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age_groups (JSON), icon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337560"/>
            <a:ext cx="5394960" cy="25146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520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Calibri"/>
              </a:rPr>
              <a:t>Why JSON columns?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BD5E1"/>
                </a:solidFill>
                <a:latin typeface="Calibri"/>
              </a:rPr>
              <a:t>Multi-value age and sector tags without heavy joins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BD5E1"/>
                </a:solidFill>
                <a:latin typeface="Calibri"/>
              </a:rPr>
              <a:t>Fast iteration when scheme metadata changes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BD5E1"/>
                </a:solidFill>
                <a:latin typeface="Calibri"/>
              </a:rPr>
              <a:t>Queryable with MySQL JSON_CONTAINS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Security, Privacy,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Current Posture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Discovery platform, not a benefit processor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No Aadhaar, bank, or KYC data collected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Applications happen on official portals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Parameterized SQL against injection risk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Secrets loaded from environment variables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HTTPS production deployment behind Nginx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42"/>
                </a:solidFill>
                <a:latin typeface="Calibri"/>
              </a:rPr>
              <a:t>Hardening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Remove public debug endpoints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Hide stack traces from client errors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Tighten CORS to known origins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Rate-limit public GET APIs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Add WAF/CDN and audit logging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BD5E1"/>
                </a:solidFill>
                <a:latin typeface="Calibri"/>
              </a:rPr>
              <a:t>Add auth when bookmarks or admin 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Scale and Reliability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Calibri"/>
              </a:rPr>
              <a:t>SPA + Node API + MySQL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832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Single region, read-heavy catalog, connection pooling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32588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945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Calibri"/>
              </a:rPr>
              <a:t>Cache + CDN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3832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Redis for popular lists, edge cache for static assets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2588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1945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Calibri"/>
              </a:rPr>
              <a:t>Horizontal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832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Stateless replicas behind load balancer, DB read replicas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325880"/>
            <a:ext cx="2788920" cy="411480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600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Calibri"/>
              </a:rPr>
              <a:t>GOV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1945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Calibri"/>
              </a:rPr>
              <a:t>Managed hosting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3832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NIC or state data center, Kubernetes, SLOs and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Tamil Nadu Pilot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Localize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Tamil UI strings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Top TN schemes content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Department source QA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  <a:latin typeface="Calibri"/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1 to 2 districts or CSC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Discovery KPIs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Citizen feedback 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23444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162A45"/>
          </a:solidFill>
          <a:ln>
            <a:solidFill>
              <a:srgbClr val="2A3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508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  <a:latin typeface="Calibri"/>
              </a:rP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3464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Admin CMS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Analytics dashboard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Calibri"/>
              </a:rPr>
              <a:t>Gov hosting and SLA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0B1628"/>
                </a:solidFill>
                <a:latin typeface="Calibri"/>
              </a:rPr>
              <a:t>THE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Pilot YojanaConnect for Tamil Nadu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1. Verified Tamil Nadu scheme content and Tamil language pack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2. Preferred hosting guidance (state data center or cloud)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3. CSC or district discovery pilot with clear KPIs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42"/>
                </a:solidFill>
                <a:latin typeface="Calibri"/>
              </a:rPr>
              <a:t>https://yojnaconnect.prakharkr.online/schemes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Thank you. Ready for architecture deep-dive and live walkthrough.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Calibri"/>
              </a:rPr>
              <a:t>YojanaConnect  |  https://yojnaconnect.prakharkr.online/schemes  |  Technical 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73952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