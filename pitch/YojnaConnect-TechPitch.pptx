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B1628"/>
                </a:solidFill>
                <a:latin typeface="Calibri"/>
              </a:rPr>
              <a:t>LIVE PRODUCT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8FAFC"/>
                </a:solidFill>
                <a:latin typeface="Calibri"/>
              </a:rPr>
              <a:t>YojanaConnect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2DD4BF"/>
                </a:solidFill>
                <a:latin typeface="Calibri"/>
              </a:rPr>
              <a:t>Enterprise-grade Welfare Scheme Discovery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Age-aware · Bilingual · REST + MySQL · Production URL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8C42"/>
                </a:solidFill>
                <a:latin typeface="Calibri"/>
              </a:rPr>
              <a:t>https://yojnaconnect.prakharkr.online/schemes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03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Technical Deep-Dive Pitch  ·  Tamil Nadu / Enterprise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YojanaConnect  ·  Live: yojnaconnect.prakharkr.online  ·  Confidential pitch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What we will cover in this technical walkthrough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3619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8C42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813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Problem →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7830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Why scheme discovery fails citizens today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4028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0487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8C42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3500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Live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65176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3-tier design, data flow, API contracts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0896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7355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8C42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2186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Engineering Depth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5204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Stack, schema, filtering engine, i18n, bot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77639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42231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8C42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08736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Enterprise Readiness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389119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Security, scale path, ops, TN pilot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4632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1091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8C42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95604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Roadmap &amp; 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257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What ships next and how to partner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YojanaConnect  ·  Live: yojnaconnect.prakharkr.online  ·  Confidential pitch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Calibri"/>
              </a:rPr>
              <a:t>The Problem: Discovery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India runs 400+ welfare schemes — eligibility still fails at the first click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86400" cy="1874519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8C42"/>
                </a:solidFill>
                <a:latin typeface="Calibri"/>
              </a:rPr>
              <a:t>Fragmented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Ministry sites, PDFs, state portals — no unified citizen entry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486400" cy="1874519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8C42"/>
                </a:solidFill>
                <a:latin typeface="Calibri"/>
              </a:rPr>
              <a:t>Complex Eligibility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33172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Bureaucratic language blocks rural / first-time digital users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66160"/>
            <a:ext cx="5486400" cy="1874519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886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8C42"/>
                </a:solidFill>
                <a:latin typeface="Calibri"/>
              </a:rPr>
              <a:t>Language Barrier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348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English-first UX excludes large Hindi / regional audiences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566160"/>
            <a:ext cx="5486400" cy="1874519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886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8C42"/>
                </a:solidFill>
                <a:latin typeface="Calibri"/>
              </a:rPr>
              <a:t>Zero Personalization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4348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Users browse catalogs; systems rarely start from life-stage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YojanaConnect  ·  Live: yojnaconnect.prakharkr.online  ·  Confidential 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Solution: Life-Stage First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From “which yojana am I eligible for?” → shortlist + official apply path in under 60 seconds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2743200" cy="347472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8C4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Calibri"/>
              </a:rPr>
              <a:t>AGE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Citizen sets age → Teen / YA / Middle / Senior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645920"/>
            <a:ext cx="2743200" cy="347472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8C4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Calibri"/>
              </a:rPr>
              <a:t>FILTER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2918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Sector · Income · Keyword · Central/State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45920"/>
            <a:ext cx="2743200" cy="347472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8C4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Calibri"/>
              </a:rPr>
              <a:t>SCHEME INTEL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918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Eligibility · Docs · Steps · Terms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645920"/>
            <a:ext cx="2743200" cy="347472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8C4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Calibri"/>
              </a:rPr>
              <a:t>OFFICIAL HANDOFF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2918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Apply Now → government portal (no PII)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YojanaConnect  ·  Live: yojnaconnect.prakharkr.online  ·  Confidential pitch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Live Product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8C42"/>
                </a:solidFill>
                <a:latin typeface="Calibri"/>
              </a:rPr>
              <a:t>Production: yojnaconnect.prakharkr.online/schemes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1737360" cy="123444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8C42"/>
                </a:solidFill>
                <a:latin typeface="Calibri"/>
              </a:rPr>
              <a:t>159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Total Schemes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19" y="1143000"/>
            <a:ext cx="1737360" cy="123444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59" y="1280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8BDF8"/>
                </a:solidFill>
                <a:latin typeface="Calibri"/>
              </a:rPr>
              <a:t>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59" y="187451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Central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39" y="1143000"/>
            <a:ext cx="1737360" cy="123444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1280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4D399"/>
                </a:solidFill>
                <a:latin typeface="Calibri"/>
              </a:rPr>
              <a:t>120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187451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59" y="1143000"/>
            <a:ext cx="1737360" cy="123444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199" y="1280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DD4B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199" y="187451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Languages</a:t>
            </a:r>
          </a:p>
        </p:txBody>
      </p:sp>
      <p:pic>
        <p:nvPicPr>
          <p:cNvPr id="18" name="Picture 17" descr="yojna-sche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097280"/>
            <a:ext cx="3840480" cy="24003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65176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✓ Age-personalized scheme grid with popularity ranking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✓ Sector + income + keyword filters with live counts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✓ Detail pages: eligibility, documents, how-to-apply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✓ WhatsApp share + official Apply Now handoff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✓ YojanaBot guided assistant + EN / हिन्दी i18n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✓ Responsive SPA — mobile-first civic 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YojanaConnect  ·  Live: yojnaconnect.prakharkr.online  ·  Confidential pitch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Product Surfaces</a:t>
            </a:r>
          </a:p>
        </p:txBody>
      </p:sp>
      <p:pic>
        <p:nvPicPr>
          <p:cNvPr id="5" name="Picture 4" descr="yojna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0"/>
            <a:ext cx="2788920" cy="17430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598932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DD4BF"/>
                </a:solidFill>
                <a:latin typeface="Calibri"/>
              </a:rPr>
              <a:t>Age Entry</a:t>
            </a:r>
          </a:p>
        </p:txBody>
      </p:sp>
      <p:pic>
        <p:nvPicPr>
          <p:cNvPr id="7" name="Picture 6" descr="yojna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914400"/>
            <a:ext cx="2788920" cy="17430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91840" y="598932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DD4BF"/>
                </a:solidFill>
                <a:latin typeface="Calibri"/>
              </a:rPr>
              <a:t>Scheme Detail</a:t>
            </a:r>
          </a:p>
        </p:txBody>
      </p:sp>
      <p:pic>
        <p:nvPicPr>
          <p:cNvPr id="9" name="Picture 8" descr="yojna-ext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914400"/>
            <a:ext cx="2788920" cy="17430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63640" y="598932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DD4BF"/>
                </a:solidFill>
                <a:latin typeface="Calibri"/>
              </a:rPr>
              <a:t>YojanaBot</a:t>
            </a:r>
          </a:p>
        </p:txBody>
      </p:sp>
      <p:pic>
        <p:nvPicPr>
          <p:cNvPr id="11" name="Picture 10" descr="yojna-language-hind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914400"/>
            <a:ext cx="2788920" cy="1743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35440" y="598932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DD4BF"/>
                </a:solidFill>
                <a:latin typeface="Calibri"/>
              </a:rPr>
              <a:t>Hindi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YojanaConnect  ·  Live: yojnaconnect.prakharkr.online  ·  Confidential pitch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Classic 3-tier — optimized for clarity, auditability, and gov IT familiarity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234440"/>
            <a:ext cx="9418320" cy="137160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8C42"/>
                </a:solidFill>
                <a:latin typeface="Calibri"/>
              </a:rPr>
              <a:t>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417320"/>
            <a:ext cx="5852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React 19 · TypeScript · Vite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TanStack Query · Wouter · i18next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Tailwind v4 · Radix / shadcn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788920"/>
            <a:ext cx="9418320" cy="137160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971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Calibri"/>
              </a:rPr>
              <a:t>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971800"/>
            <a:ext cx="5852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Node.js · Express 5 REST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Controllers · parameterized SQL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JSON field parsers · CORS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343400"/>
            <a:ext cx="9418320" cy="137160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4526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Calibri"/>
              </a:rP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526280"/>
            <a:ext cx="5852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MySQL 8+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JSON columns for age/sectors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Popularity score ranking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Connection pooling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YojanaConnect  ·  Live: yojnaconnect.prakharkr.online  ·  Confidential pitch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Request Path &amp; Filtering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097280"/>
            <a:ext cx="9875520" cy="64008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2618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8C42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261872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Browser → React SPA (ageGroup in localStorage)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874520"/>
            <a:ext cx="9875520" cy="64008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0391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8C42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039112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GET /api/schemes?ageGroup&amp;sector&amp;incomeLimit&amp;search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651760"/>
            <a:ext cx="9875520" cy="64008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28163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8C42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816352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Express controller builds parameterized WHERE clause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429000"/>
            <a:ext cx="9875520" cy="64008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5935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8C42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593592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MySQL: JSON_CONTAINS(age_groups) + income brackets + LIKE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206240"/>
            <a:ext cx="9875520" cy="64008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43708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8C42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370832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ORDER BY popularity_score → JSON parse → SchemeCards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983480"/>
            <a:ext cx="9875520" cy="64008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51480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8C42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148072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Detail: /api/schemes/:id → Apply Now = official_link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YojanaConnect  ·  Live: yojnaconnect.prakharkr.online  ·  Confidential pitch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Technology Stack — Production Choices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51560"/>
            <a:ext cx="3703320" cy="493776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8C42"/>
                </a:solidFill>
                <a:latin typeface="Calibri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▸  React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▸  TypeScript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▸  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▸  TanStack 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11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▸  Wouter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69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▸  i18next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26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▸  Framer Motion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83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▸  Tailwind CSS v4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051560"/>
            <a:ext cx="3703320" cy="493776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8C42"/>
                </a:solidFill>
                <a:latin typeface="Calibri"/>
              </a:rP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▸  Node.js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240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▸  Express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697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▸  mysql2 pool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154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▸  dotenv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611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▸  CORS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069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▸  REST JSON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526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▸  pnpm monorepo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983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▸  Orval client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1051560"/>
            <a:ext cx="3703320" cy="493776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8C42"/>
                </a:solidFill>
                <a:latin typeface="Calibri"/>
              </a:rPr>
              <a:t>Data &amp; 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▸  MySQL 8 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240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▸  Seed 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697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▸  Nginx reverse proxy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154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▸  Static SPA build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611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▸  Healthz endpoint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069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▸  Env-based config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526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▸  Mobile-first UX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983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▸  Live HTTPS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YojanaConnect  ·  Live: yojnaconnect.prakharkr.online  ·  Confidential pitch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API Surface — Contract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Read-optimized REST — clean for CSC apps, WhatsApp bots, or state portals later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61872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B1628"/>
                </a:solidFill>
                <a:latin typeface="Calibri"/>
              </a:rPr>
              <a:t>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Calibri"/>
              </a:rPr>
              <a:t>/api/healthz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280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Liveness probe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01952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B1628"/>
                </a:solidFill>
                <a:latin typeface="Calibri"/>
              </a:rP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Calibri"/>
              </a:rPr>
              <a:t>/api/schemes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920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Filtered list (age, sector, income, search, state)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42032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B1628"/>
                </a:solidFill>
                <a:latin typeface="Calibri"/>
              </a:rPr>
              <a:t>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Calibri"/>
              </a:rPr>
              <a:t>/api/schemes/:id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560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Full scheme document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82111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B1628"/>
                </a:solidFill>
                <a:latin typeface="Calibri"/>
              </a:rP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0039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Calibri"/>
              </a:rPr>
              <a:t>/api/schemes/:id/related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20039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Related / popular adjacency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22192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B1628"/>
                </a:solidFill>
                <a:latin typeface="Calibri"/>
              </a:rP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Calibri"/>
              </a:rPr>
              <a:t>/api/schemes/popular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840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Top-N by popularity_score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462272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B1628"/>
                </a:solidFill>
                <a:latin typeface="Calibri"/>
              </a:rPr>
              <a:t>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480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Calibri"/>
              </a:rPr>
              <a:t>/api/schemes/stats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480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Aggregate KPIs for dashboard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02351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B1628"/>
                </a:solidFill>
                <a:latin typeface="Calibri"/>
              </a:rPr>
              <a:t>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1206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Calibri"/>
              </a:rPr>
              <a:t>/api/sectors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1206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Sector taxonomy (+ age filter)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YojanaConnect  ·  Live: yojnaconnect.prakharkr.online  ·  Confidential pitch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Data Model — Flexible Scheme Knowledge 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5577840" cy="484632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8C42"/>
                </a:solidFill>
                <a:latin typeface="Calibri"/>
              </a:rPr>
              <a:t>schemes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id · name · name_hindi · ministry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age_groups (JSON) · sectors (JSON)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income_limit · categories · benefit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eligibility / documents (JSON arrays)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how_to_apply · official_link · deadline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terms_and_conditions · tags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is_state · state · popularity_score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51560"/>
            <a:ext cx="5394960" cy="219456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34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Calibri"/>
              </a:rPr>
              <a:t>sectors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sector_id · name · name_hindi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age_groups (JSON) · icon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474720"/>
            <a:ext cx="5394960" cy="242316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3657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Calibri"/>
              </a:rPr>
              <a:t>Why JSON columns?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16052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Multi-value age/sector tags without join explosion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Fast iteration for scheme metadata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Queryable via MySQL JSON_CONTAINS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YojanaConnect  ·  Live: yojnaconnect.prakharkr.online  ·  Confidential pitch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Security · Privacy · Trust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486400" cy="475488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4D399"/>
                </a:solidFill>
                <a:latin typeface="Calibri"/>
              </a:rPr>
              <a:t>Current Posture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✓  Discovery platform — not a benefit processor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✓  No Aadhaar / bank / KYC collected today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✓  Apply happens on official government portals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✓  Parameterized SQL — injection-resistant queries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✓  Secrets via environment variables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✓  HTTPS live deployment behind Nginx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486400" cy="475488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8C42"/>
                </a:solidFill>
                <a:latin typeface="Calibri"/>
              </a:rPr>
              <a:t>Enterprise Hardening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Production hardening backlog: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Remove debug endpoints from public edge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Suppress stack traces in client errors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Tighten CORS to known origins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Rate-limit public GET APIs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Add WAF / CDN + audit logging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• Auth only when bookmarks/admin 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YojanaConnect  ·  Live: yojnaconnect.prakharkr.online  ·  Confidential pitch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Scale &amp; Reliability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2788920" cy="402336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8C42"/>
                </a:solidFill>
                <a:latin typeface="Calibri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SPA + Node API +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3832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Single region, read-heavy catalog, connection pool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371600"/>
            <a:ext cx="2788920" cy="402336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8C42"/>
                </a:solidFill>
                <a:latin typeface="Calibri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2860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Cache + CDN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3832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Redis for popular lists, Cloudflare/Nginx static cache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2788920" cy="402336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8C42"/>
                </a:solidFill>
                <a:latin typeface="Calibri"/>
              </a:rPr>
              <a:t>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2860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Horizontal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832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Stateless replicas behind LB; MySQL replica reads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371600"/>
            <a:ext cx="2788920" cy="402336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8C42"/>
                </a:solidFill>
                <a:latin typeface="Calibri"/>
              </a:rPr>
              <a:t>GOV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2860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Managed hosting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3832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NIC / state DC / Kubernetes; observability + SLOs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YojanaConnect  ·  Live: yojnaconnect.prakharkr.online  ·  Confidential pitch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Differentiation vs Generic Portals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Calibri"/>
              </a:rPr>
              <a:t>Life-stage entry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234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Age → personalized shortlist (not ministry-first browsing)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Calibri"/>
              </a:rPr>
              <a:t>Unified 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011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Eligibility + docs + steps + official link in one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0604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88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Calibri"/>
              </a:rPr>
              <a:t>Bilingual native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788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EN / HI UI + Hindi scheme names in data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8328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Calibri"/>
              </a:rPr>
              <a:t>In-product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566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YojanaBot for high-frequency scheme FAQs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43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Calibri"/>
              </a:rPr>
              <a:t>Extensible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343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Same REST can power CSC kiosks / WhatsApp later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377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120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Calibri"/>
              </a:rPr>
              <a:t>TN-ready 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5120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State layer + Tamil localization as pilot upgrade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YojanaConnect  ·  Live: yojnaconnect.prakharkr.online  ·  Confidential pitch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Tamil Nadu Pilot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611880" cy="411480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C42"/>
                </a:solidFill>
                <a:latin typeface="Calibri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Calibri"/>
              </a:rPr>
              <a:t>Localize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Tamil UI strings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Top TN schemes seed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Content QA with dept 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611880" cy="411480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C42"/>
                </a:solidFill>
                <a:latin typeface="Calibri"/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Calibri"/>
              </a:rPr>
              <a:t>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92608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1–2 districts / CSC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Discovery KPIs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Feedback loop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280160"/>
            <a:ext cx="3611880" cy="4114800"/>
          </a:xfrm>
          <a:prstGeom prst="roundRect">
            <a:avLst>
              <a:gd name="adj" fmla="val 8000"/>
            </a:avLst>
          </a:prstGeom>
          <a:solidFill>
            <a:srgbClr val="162A45"/>
          </a:solidFill>
          <a:ln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C42"/>
                </a:solidFill>
                <a:latin typeface="Calibri"/>
              </a:rPr>
              <a:t>Phase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Calibri"/>
              </a:rPr>
              <a:t>Operate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92608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Admin CMS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Analytics dashboard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SLA + hosting on gov infra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YojanaConnect  ·  Live: yojnaconnect.prakharkr.online  ·  Confidential pitch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B1628"/>
                </a:solidFill>
                <a:latin typeface="Calibri"/>
              </a:rP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Calibri"/>
              </a:rPr>
              <a:t>Pilot YojanaConnect for Tamil Nadu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BD5E1"/>
                </a:solidFill>
                <a:latin typeface="Calibri"/>
              </a:rPr>
              <a:t>1. Verified TN scheme content + Tamil language pack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CBD5E1"/>
                </a:solidFill>
                <a:latin typeface="Calibri"/>
              </a:rPr>
              <a:t>2. Preferred hosting guidance (state DC / cloud)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CBD5E1"/>
                </a:solidFill>
                <a:latin typeface="Calibri"/>
              </a:rPr>
              <a:t>3. CSC / district discovery pilot with measurable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8C42"/>
                </a:solidFill>
                <a:latin typeface="Calibri"/>
              </a:rPr>
              <a:t>https://yojnaconnect.prakharkr.online/schemes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577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Thank you — open for architecture deep-dive &amp; live walkthrough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"/>
              </a:rPr>
              <a:t>YojanaConnect  ·  Live: yojnaconnect.prakharkr.online  ·  Confidential pitch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